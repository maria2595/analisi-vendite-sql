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  <p:sldId id="275" r:id="rId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a" initials="M" lastIdx="1" clrIdx="0">
    <p:extLst>
      <p:ext uri="{19B8F6BF-5375-455C-9EA6-DF929625EA0E}">
        <p15:presenceInfo xmlns:p15="http://schemas.microsoft.com/office/powerpoint/2012/main" userId="f624455cf6d980f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47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645F94-6A63-416C-9117-80905E00AC8B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E0778-6F8F-486A-9D4D-F7CD552BA56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461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68F9B6-E0DA-473F-9EA4-33C8E1692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8DA3E06-42CD-4510-A5C3-DCDFD056D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7FA788-A7A6-4051-98B2-025FE4646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2C66D6D-DD22-4478-8CCA-5C22A1473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F7151A-D385-437E-A3A5-3C061F3E0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261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6A4C66-D733-4C00-90DA-77E6051D8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CFE79AF-CA91-415B-BBBB-8E8E3E99A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908157-ACB2-4FFD-82F9-77C73FF10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08B0183-C396-48E7-B395-82AF9A75A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528A17-1FDA-40C0-9EA1-9AA271C5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2611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899EB6-2BC7-4022-AA83-EE62E926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CD8CB9D-237E-4CE6-A3A9-D8DD36467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E98D3EA-3F2A-4143-A6A7-D82DBA66B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04038A-BDFC-402B-9885-410FA16A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666274C-3F2C-4214-94DB-724F13D8B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115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5500C-CFF0-4FCC-A1D0-96BB30B0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6B8AAE-A0B7-43E8-8668-2635B853B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3D14778-4A7D-44AE-8BAE-E8A1C098A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11C819-8902-4DBE-BEEC-485CDEAB2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6049BC6-3288-4123-AF47-2E8DC79D4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00454C8-1BE0-4290-8E45-1F9E7A0B8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169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08EBF3-E0FF-4E28-8546-AAE06F3AF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C52D238-7B1C-4ABB-AC81-74A75D112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6583E4B-592D-4E60-A6F1-F44C53C32C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64669ED-54B9-48D6-8522-2030182C8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71C3761-2664-44D9-9BA9-A95D3CCDC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AEDE990-211D-46E2-9D9A-7AF4463D3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EAC3503-1E81-4627-A055-B2A399E6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D851F18-233E-4DC6-B089-1D36516D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29156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A16ABB-6835-4607-AA60-2CC4CBD6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D4C481F-99AD-4FC6-B0DD-9DDC427F4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877C635-01E4-463E-8FCC-E846CD88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290B662-7104-47A2-89A1-24CBB06C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8725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24090EB-76C1-459E-91EA-E7CC0DDEF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FCCCA95-05D3-4C43-9735-E3A34EF78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EE937B-169A-458E-BE35-524F5B19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505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8C0E1D-C88C-46B9-9DAD-55FA72AAB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6B1BAB-5AE0-4941-90B7-9FA6BD9F2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5265FB8-631C-4CD6-9304-768AB5247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4452ECB-3BB1-449E-83BE-200327206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299769-FE1B-415B-A2DC-96CC8DB87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560ED33-FFF1-4904-8880-2B077E196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3740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6E645C-AA30-44FF-9174-5DB16F056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0B6C4F2-0AFA-4912-950E-4B6CAE2FBC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51ED60C-5E34-4F0F-BAA7-53F023C054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07043C0-5CF7-4C24-8423-FA0073DB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97C7D18-FC93-48A3-AEA3-E46E4BFD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0C8EE69-2E75-45D8-8E83-66C1446F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8829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686DB2-7922-4E01-A9F1-EEFD017F4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B44227C-B675-409D-9614-ACB6B48C8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A71B089-4C98-43D4-B09D-3CF543D1D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8007672-96BB-4EBB-A7FC-86574314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2BB484-AEEB-4581-8511-DFE9BECF8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4182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352545B-CFED-43A0-9043-85F30F987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A8F6AE4-AAFB-41DD-B182-905637D8C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C2C13BD-AC52-4FCA-973D-87E70AC7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7300D0D-1D15-41C1-B046-212033C7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04B99C-7B4C-4106-B160-FB67FE6D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850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B9A2AD-23F8-4E90-AA23-2EA8181A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F0EAFB5-840D-4C53-8234-6D8707D17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A4E8A5A-9B4D-42C6-BC82-6DAC622EB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4D29A-8758-4C4A-BC6E-41A714106F3C}" type="datetimeFigureOut">
              <a:rPr lang="it-IT" smtClean="0"/>
              <a:t>23/04/2026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5FEBD1-1458-4CD2-90F3-F60F0CCBE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7C27D7-6B21-46E6-9660-A74E265286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90686-054E-4996-9184-1B26C8FB1DD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805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39DCB5-C00E-4637-8D12-BC50C14188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8825"/>
            <a:ext cx="9144000" cy="895350"/>
          </a:xfrm>
        </p:spPr>
        <p:txBody>
          <a:bodyPr>
            <a:normAutofit fontScale="90000"/>
          </a:bodyPr>
          <a:lstStyle/>
          <a:p>
            <a:r>
              <a:rPr lang="it-IT" b="1" dirty="0"/>
              <a:t>Analisi vendite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165A9F-E022-442D-A6D1-12CF666C3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8300" y="3221835"/>
            <a:ext cx="9144000" cy="494505"/>
          </a:xfrm>
        </p:spPr>
        <p:txBody>
          <a:bodyPr/>
          <a:lstStyle/>
          <a:p>
            <a:r>
              <a:rPr lang="it-IT" b="1" dirty="0"/>
              <a:t>ECommerce settore informatica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1C361BE-B763-4E91-8356-92DD3EE9971D}"/>
              </a:ext>
            </a:extLst>
          </p:cNvPr>
          <p:cNvSpPr txBox="1"/>
          <p:nvPr/>
        </p:nvSpPr>
        <p:spPr>
          <a:xfrm>
            <a:off x="4238625" y="3716340"/>
            <a:ext cx="3943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2020-2022  |  35 Stati  | SQL + </a:t>
            </a:r>
            <a:r>
              <a:rPr lang="it-IT" b="1" dirty="0" err="1"/>
              <a:t>PowerBI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298237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528A91-D1F3-422F-8EBE-0081671D3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49" y="342900"/>
            <a:ext cx="10858502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Vendite in 3 anni in 35 stati: come ho segmentato le vendite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C9D3B73-8DA9-4999-9EF1-66752AA86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2737" y="1693863"/>
            <a:ext cx="6748463" cy="531813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Segmentazione per range di vendite annuali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6B67CD0C-F8EF-4438-A796-42C6649E7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289950"/>
              </p:ext>
            </p:extLst>
          </p:nvPr>
        </p:nvGraphicFramePr>
        <p:xfrm>
          <a:off x="2109787" y="2800518"/>
          <a:ext cx="797242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1498">
                  <a:extLst>
                    <a:ext uri="{9D8B030D-6E8A-4147-A177-3AD203B41FA5}">
                      <a16:colId xmlns:a16="http://schemas.microsoft.com/office/drawing/2014/main" val="3353874384"/>
                    </a:ext>
                  </a:extLst>
                </a:gridCol>
                <a:gridCol w="4030927">
                  <a:extLst>
                    <a:ext uri="{9D8B030D-6E8A-4147-A177-3AD203B41FA5}">
                      <a16:colId xmlns:a16="http://schemas.microsoft.com/office/drawing/2014/main" val="3716488109"/>
                    </a:ext>
                  </a:extLst>
                </a:gridCol>
              </a:tblGrid>
              <a:tr h="259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Categorie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Range Vendite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398995"/>
                  </a:ext>
                </a:extLst>
              </a:tr>
              <a:tr h="259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Low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Meno di 100k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634258"/>
                  </a:ext>
                </a:extLst>
              </a:tr>
              <a:tr h="259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Medium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100k – 300k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649617"/>
                  </a:ext>
                </a:extLst>
              </a:tr>
              <a:tr h="259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Upper Medium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300k – 500k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182347"/>
                  </a:ext>
                </a:extLst>
              </a:tr>
              <a:tr h="259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High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500k – 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912298"/>
                  </a:ext>
                </a:extLst>
              </a:tr>
              <a:tr h="2596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Top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Più di 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4686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8756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54554-2EB4-46ED-959C-21CEE2884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7875" y="408983"/>
            <a:ext cx="3650225" cy="1210267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Trend 2020 - 2022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92CD66-50A0-448E-BAD0-83FEB2942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3185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2400" b="1" dirty="0"/>
              <a:t>L’azienda ha registrato una diminuzione importante delle vendite e del margine di profitto importante nell’ultimo anno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450DC4E-C20F-4FCB-B577-BBC4C2A86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011" y="3427117"/>
            <a:ext cx="5243978" cy="154681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832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58DCE2-771D-4CDB-BB1F-27D72BFC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981" y="264326"/>
            <a:ext cx="10515600" cy="84088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Top Sales segmento da monitorare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26B858-A9C0-459F-87BC-1AAB3813C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981" y="1178272"/>
            <a:ext cx="10515600" cy="617537"/>
          </a:xfrm>
        </p:spPr>
        <p:txBody>
          <a:bodyPr/>
          <a:lstStyle/>
          <a:p>
            <a:pPr marL="0" indent="0" algn="ctr">
              <a:buNone/>
            </a:pPr>
            <a:r>
              <a:rPr lang="it-IT" b="1" dirty="0"/>
              <a:t>Segmento con margini negativi mentre tutti gli altri crescono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3915A6E-A6EC-4380-83E4-E459D0B0A1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120" y="2161609"/>
            <a:ext cx="4861322" cy="16808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DCFF7C27-4390-496B-8187-DD3F8817EE53}"/>
              </a:ext>
            </a:extLst>
          </p:cNvPr>
          <p:cNvSpPr txBox="1"/>
          <p:nvPr/>
        </p:nvSpPr>
        <p:spPr>
          <a:xfrm>
            <a:off x="4243387" y="1719214"/>
            <a:ext cx="4014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Top Sales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7952180-C5E2-4B97-B4C8-049CB91B879F}"/>
              </a:ext>
            </a:extLst>
          </p:cNvPr>
          <p:cNvSpPr txBox="1"/>
          <p:nvPr/>
        </p:nvSpPr>
        <p:spPr>
          <a:xfrm>
            <a:off x="3257550" y="4057650"/>
            <a:ext cx="5957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Variazione Margini profitto altri segmenti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6CF8812-6EA7-4676-9738-A804A98DAC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739" y="4514547"/>
            <a:ext cx="6313816" cy="36933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72000D6-D544-48CC-8470-310C55B151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172" y="5032348"/>
            <a:ext cx="6091266" cy="165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6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6D2E58-2DC0-42BA-9FC2-FC812716D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8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Low Sales, Medium Sales e Upper Medium Sales: vendite in aumento ma margini in diminuzione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A25E94-FF81-4E3D-8D53-A17436607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sz="2000" dirty="0"/>
              <a:t>📈 **Low Sales**</a:t>
            </a:r>
          </a:p>
          <a:p>
            <a:pPr marL="0" indent="0">
              <a:buNone/>
            </a:pPr>
            <a:r>
              <a:rPr lang="it-IT" sz="2000" dirty="0"/>
              <a:t>• Vendite: trend in costante aumento</a:t>
            </a:r>
          </a:p>
          <a:p>
            <a:pPr marL="0" indent="0">
              <a:buNone/>
            </a:pPr>
            <a:r>
              <a:rPr lang="it-IT" sz="2000" dirty="0"/>
              <a:t>• Margine: crolla nel 2022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📈 **Medium Sales**</a:t>
            </a:r>
          </a:p>
          <a:p>
            <a:pPr marL="0" indent="0">
              <a:buNone/>
            </a:pPr>
            <a:r>
              <a:rPr lang="it-IT" sz="2000" dirty="0"/>
              <a:t>• Vendite: trend in costante aumento</a:t>
            </a:r>
          </a:p>
          <a:p>
            <a:pPr marL="0" indent="0">
              <a:buNone/>
            </a:pPr>
            <a:r>
              <a:rPr lang="it-IT" sz="2000" dirty="0"/>
              <a:t>• Margine: crolla nel 2022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2000" dirty="0"/>
              <a:t>📈 **Upper Medium Sales**</a:t>
            </a:r>
          </a:p>
          <a:p>
            <a:pPr marL="0" indent="0">
              <a:buNone/>
            </a:pPr>
            <a:r>
              <a:rPr lang="it-IT" sz="2000" dirty="0"/>
              <a:t>• Vendite: costante aumento</a:t>
            </a:r>
          </a:p>
          <a:p>
            <a:pPr marL="0" indent="0">
              <a:buNone/>
            </a:pPr>
            <a:r>
              <a:rPr lang="it-IT" sz="2000" dirty="0"/>
              <a:t>• Margine: crolla nel 2022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FCD5693-CF8A-42CC-965E-A2FB828C4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1701934"/>
            <a:ext cx="4334951" cy="1433854"/>
          </a:xfrm>
          <a:prstGeom prst="rect">
            <a:avLst/>
          </a:prstGeom>
          <a:effectLst/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C903B67-98D3-4203-9915-2016F47CE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3234532"/>
            <a:ext cx="4334951" cy="1404608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3755A87-70FE-4676-B3F4-FAD07051A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550" y="4673611"/>
            <a:ext cx="4334952" cy="140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63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A7E007-0396-4455-AB24-7C21A2C8C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16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Aumento vendite non è sempre sintomo di efficienza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A30AFA-8F60-425E-A7C9-D424488F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4013" y="2441574"/>
            <a:ext cx="8705850" cy="2403475"/>
          </a:xfrm>
        </p:spPr>
        <p:txBody>
          <a:bodyPr/>
          <a:lstStyle/>
          <a:p>
            <a:pPr marL="0" indent="0" algn="ctr">
              <a:buNone/>
            </a:pPr>
            <a:r>
              <a:rPr lang="it-IT" dirty="0"/>
              <a:t>  </a:t>
            </a:r>
            <a:r>
              <a:rPr lang="it-IT" b="1" dirty="0"/>
              <a:t>Ipotesi (limite dati da aggiornare)</a:t>
            </a:r>
          </a:p>
          <a:p>
            <a:pPr marL="0" indent="0" algn="ctr">
              <a:buNone/>
            </a:pPr>
            <a:r>
              <a:rPr lang="it-IT" dirty="0"/>
              <a:t>• Sconti aggressivi per aumentare le vendite</a:t>
            </a:r>
          </a:p>
          <a:p>
            <a:pPr marL="0" indent="0" algn="ctr">
              <a:buNone/>
            </a:pPr>
            <a:r>
              <a:rPr lang="it-IT" dirty="0"/>
              <a:t>• Politiche promozionali che erodono il margine di profitto</a:t>
            </a:r>
          </a:p>
          <a:p>
            <a:pPr marL="0" indent="0" algn="ctr">
              <a:buNone/>
            </a:pPr>
            <a:r>
              <a:rPr lang="it-IT" dirty="0"/>
              <a:t>• Necessario integrare dati su promozioni e competitor</a:t>
            </a:r>
          </a:p>
        </p:txBody>
      </p:sp>
    </p:spTree>
    <p:extLst>
      <p:ext uri="{BB962C8B-B14F-4D97-AF65-F5344CB8AC3E}">
        <p14:creationId xmlns:p14="http://schemas.microsoft.com/office/powerpoint/2010/main" val="930677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48B56A-A88C-49C9-A442-71A52DC41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5933"/>
            <a:ext cx="10515600" cy="1009651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High Sales : l’unico segmento con risultati positivi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F750AF-CAFD-4B9D-8FE3-647F94CE2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8" y="2139949"/>
            <a:ext cx="6419850" cy="10096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400" b="1" dirty="0"/>
              <a:t>✅ Cosa funziona</a:t>
            </a:r>
          </a:p>
          <a:p>
            <a:pPr marL="0" indent="0">
              <a:buNone/>
            </a:pPr>
            <a:r>
              <a:rPr lang="it-IT" sz="2400" b="1" dirty="0"/>
              <a:t>• Crescita bilanciata tra volume e redditività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49FCFACD-EBF5-4CF0-B0BD-576B40439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317" y="1812766"/>
            <a:ext cx="4808058" cy="16640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90C6C4F-BC95-46EC-A030-04A7772978C7}"/>
              </a:ext>
            </a:extLst>
          </p:cNvPr>
          <p:cNvSpPr txBox="1"/>
          <p:nvPr/>
        </p:nvSpPr>
        <p:spPr>
          <a:xfrm>
            <a:off x="652462" y="4529693"/>
            <a:ext cx="1019175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/>
              <a:t>• Questo segmento può essere un modello per gli altri</a:t>
            </a:r>
          </a:p>
          <a:p>
            <a:pPr algn="ctr"/>
            <a:r>
              <a:rPr lang="it-IT" sz="2800" b="1" dirty="0"/>
              <a:t>• Analizzare le politiche di marketing applicate a High Sales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8759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C9AE99-10B6-4377-A982-1E3201A12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3" y="395542"/>
            <a:ext cx="10515600" cy="935038"/>
          </a:xfrm>
        </p:spPr>
        <p:txBody>
          <a:bodyPr>
            <a:normAutofit/>
          </a:bodyPr>
          <a:lstStyle/>
          <a:p>
            <a:pPr algn="ctr"/>
            <a:r>
              <a:rPr lang="it-IT" sz="3200" b="1" dirty="0"/>
              <a:t>Obiettivo 2023: da clienti occasionali a clienti fedeli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3BA582-6AB0-4EAD-8CB1-09467EFD4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49" y="2282608"/>
            <a:ext cx="6391275" cy="398621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it-IT" sz="1900" dirty="0"/>
          </a:p>
          <a:p>
            <a:pPr marL="0" indent="0">
              <a:buNone/>
            </a:pPr>
            <a:r>
              <a:rPr lang="it-IT" sz="2400" b="1" i="1" u="sng" dirty="0"/>
              <a:t>🎯 Tre azioni necessarie</a:t>
            </a:r>
          </a:p>
          <a:p>
            <a:pPr marL="0" indent="0">
              <a:buNone/>
            </a:pPr>
            <a:r>
              <a:rPr lang="it-IT" sz="1900" b="1" i="1" u="sng" dirty="0"/>
              <a:t>1. Avviare programmi di retention</a:t>
            </a:r>
          </a:p>
          <a:p>
            <a:pPr marL="0" indent="0">
              <a:buNone/>
            </a:pPr>
            <a:r>
              <a:rPr lang="it-IT" sz="1900" dirty="0"/>
              <a:t>• Programmi fedeltà / loyalty</a:t>
            </a:r>
          </a:p>
          <a:p>
            <a:pPr marL="0" indent="0">
              <a:buNone/>
            </a:pPr>
            <a:endParaRPr lang="it-IT" sz="1900" dirty="0"/>
          </a:p>
          <a:p>
            <a:pPr marL="0" indent="0">
              <a:buNone/>
            </a:pPr>
            <a:r>
              <a:rPr lang="it-IT" sz="1900" b="1" i="1" u="sng" dirty="0"/>
              <a:t>2. Tracciare gli acquisti ripetuti per segmento</a:t>
            </a:r>
          </a:p>
          <a:p>
            <a:pPr marL="0" indent="0">
              <a:buNone/>
            </a:pPr>
            <a:r>
              <a:rPr lang="it-IT" sz="1900" dirty="0"/>
              <a:t>• Monitorare la variazione della % di clienti con &gt;1 acquisto</a:t>
            </a:r>
          </a:p>
          <a:p>
            <a:endParaRPr lang="it-IT" sz="1900" dirty="0"/>
          </a:p>
          <a:p>
            <a:pPr marL="0" indent="0">
              <a:buNone/>
            </a:pPr>
            <a:r>
              <a:rPr lang="it-IT" sz="1900" b="1" i="1" u="sng" dirty="0"/>
              <a:t>3. Calcolare il CLV entro 12 mesi</a:t>
            </a:r>
          </a:p>
          <a:p>
            <a:pPr marL="0" indent="0">
              <a:buNone/>
            </a:pPr>
            <a:r>
              <a:rPr lang="it-IT" sz="1900" dirty="0"/>
              <a:t> • Usare i dati di retention per pianificare le vendite future</a:t>
            </a:r>
          </a:p>
          <a:p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753AE7-3D9D-4DA5-9723-C5CD603A50ED}"/>
              </a:ext>
            </a:extLst>
          </p:cNvPr>
          <p:cNvSpPr txBox="1"/>
          <p:nvPr/>
        </p:nvSpPr>
        <p:spPr>
          <a:xfrm>
            <a:off x="7431880" y="2676642"/>
            <a:ext cx="3919539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sz="2000" dirty="0"/>
          </a:p>
          <a:p>
            <a:r>
              <a:rPr lang="it-IT" sz="2000" dirty="0"/>
              <a:t>📌 </a:t>
            </a:r>
            <a:r>
              <a:rPr lang="it-IT" sz="2400" b="1" i="1" u="sng" dirty="0"/>
              <a:t>Perché queste azioni sono necessarie</a:t>
            </a:r>
          </a:p>
          <a:p>
            <a:endParaRPr lang="it-IT" sz="2400" b="1" i="1" u="sng" dirty="0"/>
          </a:p>
          <a:p>
            <a:r>
              <a:rPr lang="it-IT" sz="2000" dirty="0"/>
              <a:t>🎯 Riduce la volatilità dei ricavi</a:t>
            </a:r>
          </a:p>
          <a:p>
            <a:endParaRPr lang="it-IT" sz="2000" dirty="0"/>
          </a:p>
          <a:p>
            <a:r>
              <a:rPr lang="it-IT" sz="2000" dirty="0"/>
              <a:t>🎯Migliora il ROI delle campagne</a:t>
            </a:r>
          </a:p>
          <a:p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75E4A1D-1872-4963-8E2B-003E8E3CD485}"/>
              </a:ext>
            </a:extLst>
          </p:cNvPr>
          <p:cNvSpPr txBox="1"/>
          <p:nvPr/>
        </p:nvSpPr>
        <p:spPr>
          <a:xfrm>
            <a:off x="2597942" y="1395828"/>
            <a:ext cx="699611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it-IT" sz="2000" dirty="0"/>
              <a:t>⚠️ </a:t>
            </a:r>
            <a:r>
              <a:rPr lang="it-IT" sz="2000" b="1" dirty="0"/>
              <a:t>Il problema comune a tutti i segmenti</a:t>
            </a:r>
          </a:p>
          <a:p>
            <a:pPr marL="0" indent="0" algn="ctr">
              <a:buNone/>
            </a:pPr>
            <a:r>
              <a:rPr lang="it-IT" sz="2000" dirty="0"/>
              <a:t>• La maggior parte dei clienti effettua un solo acquisto</a:t>
            </a:r>
          </a:p>
          <a:p>
            <a:pPr marL="0" indent="0" algn="ctr">
              <a:buNone/>
            </a:pPr>
            <a:r>
              <a:rPr lang="it-IT" sz="2000" dirty="0"/>
              <a:t>• Impossibile calcolare Customer Lifetime Value (CLV)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146444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359</Words>
  <Application>Microsoft Office PowerPoint</Application>
  <PresentationFormat>Widescreen</PresentationFormat>
  <Paragraphs>66</Paragraphs>
  <Slides>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di Office</vt:lpstr>
      <vt:lpstr>Analisi vendite</vt:lpstr>
      <vt:lpstr>Vendite in 3 anni in 35 stati: come ho segmentato le vendite</vt:lpstr>
      <vt:lpstr>Trend 2020 - 2022</vt:lpstr>
      <vt:lpstr>Top Sales segmento da monitorare</vt:lpstr>
      <vt:lpstr>Low Sales, Medium Sales e Upper Medium Sales: vendite in aumento ma margini in diminuzione</vt:lpstr>
      <vt:lpstr>Aumento vendite non è sempre sintomo di efficienza</vt:lpstr>
      <vt:lpstr>High Sales : l’unico segmento con risultati positivi</vt:lpstr>
      <vt:lpstr>Obiettivo 2023: da clienti occasionali a clienti fedeli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Analisi vendite</dc:title>
  <dc:creator>Maria</dc:creator>
  <cp:lastModifiedBy>Maria</cp:lastModifiedBy>
  <cp:revision>54</cp:revision>
  <dcterms:created xsi:type="dcterms:W3CDTF">2026-04-15T07:16:47Z</dcterms:created>
  <dcterms:modified xsi:type="dcterms:W3CDTF">2026-04-23T06:18:56Z</dcterms:modified>
</cp:coreProperties>
</file>